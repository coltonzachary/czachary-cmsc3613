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F46486-0A9E-FA77-2BB6-B01B48B88D90}" v="21" dt="2026-02-24T04:52:02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erson standing on a rock pointing to something&#10;&#10;AI-generated content may be incorrect.">
            <a:extLst>
              <a:ext uri="{FF2B5EF4-FFF2-40B4-BE49-F238E27FC236}">
                <a16:creationId xmlns:a16="http://schemas.microsoft.com/office/drawing/2014/main" id="{9C9910F8-7425-6F34-744C-E4F0D68DBA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225" b="10852"/>
          <a:stretch>
            <a:fillRect/>
          </a:stretch>
        </p:blipFill>
        <p:spPr>
          <a:xfrm>
            <a:off x="1891768" y="10"/>
            <a:ext cx="725223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171" y="743447"/>
            <a:ext cx="2980038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4500"/>
              <a:t>The Price of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4171" y="4629234"/>
            <a:ext cx="2980040" cy="148531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500"/>
              <a:t>CMSC 2123 - Library </a:t>
            </a:r>
            <a:r>
              <a:rPr lang="en-US" sz="2500" dirty="0"/>
              <a:t>Research Report</a:t>
            </a:r>
          </a:p>
          <a:p>
            <a:pPr algn="l">
              <a:lnSpc>
                <a:spcPct val="90000"/>
              </a:lnSpc>
            </a:pPr>
            <a:r>
              <a:rPr lang="en-US" sz="2500"/>
              <a:t>Colton Zachary</a:t>
            </a:r>
          </a:p>
          <a:p>
            <a:pPr algn="l">
              <a:lnSpc>
                <a:spcPct val="90000"/>
              </a:lnSpc>
            </a:pPr>
            <a:endParaRPr lang="en-US" sz="25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the Article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Title: The Price of Intelligence</a:t>
            </a:r>
          </a:p>
          <a:p>
            <a:r>
              <a:t>Publication: Communications of the ACM</a:t>
            </a:r>
          </a:p>
          <a:p>
            <a:r>
              <a:t>Year: 2025</a:t>
            </a:r>
          </a:p>
          <a:p>
            <a:r>
              <a:t>Source: ACM Digital Library (Magazine)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 of the Article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Clearly explains risks and costs of powerful AI systems</a:t>
            </a:r>
          </a:p>
          <a:p>
            <a:r>
              <a:t>Strong focus on responsible and ethical AI use</a:t>
            </a:r>
          </a:p>
          <a:p>
            <a:r>
              <a:t>Uses real-world examples</a:t>
            </a:r>
          </a:p>
          <a:p>
            <a:r>
              <a:t>Easy for undergraduate readers to understand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Weaknesses of the Article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Limited technical solutions proposed</a:t>
            </a:r>
          </a:p>
          <a:p>
            <a:r>
              <a:t>More conceptual than quantitative</a:t>
            </a:r>
          </a:p>
          <a:p>
            <a:r>
              <a:t>Some arguments are broad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and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Generative AI systems are becoming more powerful</a:t>
            </a:r>
          </a:p>
          <a:p>
            <a:r>
              <a:t>Increased intelligence brings increased responsibility</a:t>
            </a:r>
          </a:p>
          <a:p>
            <a:r>
              <a:t>AI intelligence is not free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Price of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Operational costs: computing power and energy</a:t>
            </a:r>
          </a:p>
          <a:p>
            <a:r>
              <a:t>Social costs: misinformation and job displacement</a:t>
            </a:r>
          </a:p>
          <a:p>
            <a:r>
              <a:t>Ethical costs: bias and accountability gaps</a:t>
            </a:r>
          </a:p>
          <a:p>
            <a:r>
              <a:t>Risk of unintended consequences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of 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Confident but incorrect outputs</a:t>
            </a:r>
          </a:p>
          <a:p>
            <a:r>
              <a:t>Bias from training data</a:t>
            </a:r>
          </a:p>
          <a:p>
            <a:r>
              <a:t>Unpredictable behavior</a:t>
            </a:r>
          </a:p>
          <a:p>
            <a:r>
              <a:t>High risk in critical decision-making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Accountability and Responsibility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is responsible when AI fails?</a:t>
            </a:r>
          </a:p>
          <a:p>
            <a:r>
              <a:t>Developers, organizations, and users share responsibility</a:t>
            </a:r>
          </a:p>
          <a:p>
            <a:r>
              <a:t>Human oversight is necessary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AI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Transparency</a:t>
            </a:r>
          </a:p>
          <a:p>
            <a:r>
              <a:t>Fairness</a:t>
            </a:r>
          </a:p>
          <a:p>
            <a:r>
              <a:t>Accountability</a:t>
            </a:r>
          </a:p>
          <a:p>
            <a:r>
              <a:t>Safety and oversight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intelligence comes with serious costs</a:t>
            </a:r>
          </a:p>
          <a:p>
            <a:r>
              <a:t>Responsible deployment is essential</a:t>
            </a:r>
          </a:p>
          <a:p>
            <a:r>
              <a:t>Ethical considerations must guide AI 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Balanced view of AI progress</a:t>
            </a:r>
          </a:p>
          <a:p>
            <a:r>
              <a:t>Intelligence alone should not drive adoption</a:t>
            </a:r>
          </a:p>
          <a:p>
            <a:r>
              <a:t>Responsible AI is critical for the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The Price of Intelligence</vt:lpstr>
      <vt:lpstr>About the Article</vt:lpstr>
      <vt:lpstr>Strengths of the Article</vt:lpstr>
      <vt:lpstr>Weaknesses of the Article</vt:lpstr>
      <vt:lpstr>Motivation and Background</vt:lpstr>
      <vt:lpstr>What Is the Price of Intelligence?</vt:lpstr>
      <vt:lpstr>Risks of Generative AI</vt:lpstr>
      <vt:lpstr>Accountability and Responsibility</vt:lpstr>
      <vt:lpstr>Responsible AI Principles</vt:lpstr>
      <vt:lpstr>Key Takeaways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14</cp:revision>
  <dcterms:created xsi:type="dcterms:W3CDTF">2013-01-27T09:14:16Z</dcterms:created>
  <dcterms:modified xsi:type="dcterms:W3CDTF">2026-02-24T04:55:05Z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4b55ed7-9ba9-43e7-adc9-7a4ed6fd9b0e_Enabled">
    <vt:lpwstr>true</vt:lpwstr>
  </property>
  <property fmtid="{D5CDD505-2E9C-101B-9397-08002B2CF9AE}" pid="3" name="MSIP_Label_14b55ed7-9ba9-43e7-adc9-7a4ed6fd9b0e_SetDate">
    <vt:lpwstr>2026-02-24T04:47:30Z</vt:lpwstr>
  </property>
  <property fmtid="{D5CDD505-2E9C-101B-9397-08002B2CF9AE}" pid="4" name="MSIP_Label_14b55ed7-9ba9-43e7-adc9-7a4ed6fd9b0e_Method">
    <vt:lpwstr>Standard</vt:lpwstr>
  </property>
  <property fmtid="{D5CDD505-2E9C-101B-9397-08002B2CF9AE}" pid="5" name="MSIP_Label_14b55ed7-9ba9-43e7-adc9-7a4ed6fd9b0e_Name">
    <vt:lpwstr>UCO - Internal</vt:lpwstr>
  </property>
  <property fmtid="{D5CDD505-2E9C-101B-9397-08002B2CF9AE}" pid="6" name="MSIP_Label_14b55ed7-9ba9-43e7-adc9-7a4ed6fd9b0e_SiteId">
    <vt:lpwstr>51aa8f26-2e23-4b8c-bca8-7cc441adc4df</vt:lpwstr>
  </property>
  <property fmtid="{D5CDD505-2E9C-101B-9397-08002B2CF9AE}" pid="7" name="MSIP_Label_14b55ed7-9ba9-43e7-adc9-7a4ed6fd9b0e_ActionId">
    <vt:lpwstr>cd13c65d-b79f-400e-87fd-bab5f8d94f49</vt:lpwstr>
  </property>
  <property fmtid="{D5CDD505-2E9C-101B-9397-08002B2CF9AE}" pid="8" name="MSIP_Label_14b55ed7-9ba9-43e7-adc9-7a4ed6fd9b0e_ContentBits">
    <vt:lpwstr>0</vt:lpwstr>
  </property>
  <property fmtid="{D5CDD505-2E9C-101B-9397-08002B2CF9AE}" pid="9" name="MSIP_Label_14b55ed7-9ba9-43e7-adc9-7a4ed6fd9b0e_Tag">
    <vt:lpwstr>10, 3, 0, 2</vt:lpwstr>
  </property>
</Properties>
</file>